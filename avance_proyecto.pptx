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e8d8a2e-f71f-c4e2-3e7d-71510f3919e1}">
          <p14:sldIdLst>
            <p14:sldId id="256"/>
          </p14:sldIdLst>
        </p14:section>
        <p14:section name="Question" id="{34c29afa-5ca3-17cd-708c-5fc8e690cab6}">
          <p14:sldIdLst>
            <p14:sldId id="257"/>
            <p14:sldId id="258"/>
          </p14:sldIdLst>
        </p14:section>
        <p14:section name="Data" id="{485be940-4d04-ebea-5186-4a84076c8fae}">
          <p14:sldIdLst>
            <p14:sldId id="259"/>
            <p14:sldId id="260"/>
          </p14:sldIdLst>
        </p14:section>
        <p14:section name="Quality" id="{c9f01d81-e647-f43f-2e25-091346b18724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Of the 92 duplicated products, in how many do copies differ?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 where copies differ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product_link</c:v>
                  </c:pt>
                  <c:pt idx="1">
                    <c:v>img_link</c:v>
                  </c:pt>
                  <c:pt idx="2">
                    <c:v>rating_count</c:v>
                  </c:pt>
                  <c:pt idx="3">
                    <c:v>review_content</c:v>
                  </c:pt>
                  <c:pt idx="4">
                    <c:v>discount_percentage</c:v>
                  </c:pt>
                  <c:pt idx="5">
                    <c:v>discounted_price</c:v>
                  </c:pt>
                  <c:pt idx="6">
                    <c:v>actual_price</c:v>
                  </c:pt>
                  <c:pt idx="7">
                    <c:v>rating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77</c:v>
                </c:pt>
                <c:pt idx="2">
                  <c:v>31</c:v>
                </c:pt>
                <c:pt idx="3">
                  <c:v>18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IIB415A Business Intelligence · Integrative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Amazon products will disappoint customers?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Integrative project · Progress update: business question, target and data quality (2 of 5 C's)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not to spend promotion budget</a:t>
            </a:r>
            <a:endParaRPr lang="en-US" sz="28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BUSINESS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should we not invest in promoting, because they are likely to end up poorly rated?</a:t>
            </a:r>
            <a:endParaRPr lang="en-US" sz="2200" dirty="0"/>
          </a:p>
        </p:txBody>
      </p:sp>
      <p:sp>
        <p:nvSpPr>
          <p:cNvPr id="6" name="Step 1 circle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1 label"/>
          <p:cNvSpPr txBox="1"/>
          <p:nvPr/>
        </p:nvSpPr>
        <p:spPr>
          <a:xfrm>
            <a:off x="4754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216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decides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5636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category manager at an Amazon India seller</a:t>
            </a:r>
            <a:endParaRPr lang="en-US" sz="1400" dirty="0"/>
          </a:p>
        </p:txBody>
      </p:sp>
      <p:sp>
        <p:nvSpPr>
          <p:cNvPr id="10" name="Step 2 circle"/>
          <p:cNvSpPr/>
          <p:nvPr/>
        </p:nvSpPr>
        <p:spPr>
          <a:xfrm>
            <a:off x="4754880" y="2331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2 label"/>
          <p:cNvSpPr txBox="1"/>
          <p:nvPr/>
        </p:nvSpPr>
        <p:spPr>
          <a:xfrm>
            <a:off x="47548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they decide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6609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Whether to put promotion budget behind a product</a:t>
            </a:r>
            <a:endParaRPr lang="en-US" sz="1400" dirty="0"/>
          </a:p>
        </p:txBody>
      </p:sp>
      <p:sp>
        <p:nvSpPr>
          <p:cNvPr id="14" name="Step 3 circle"/>
          <p:cNvSpPr/>
          <p:nvPr/>
        </p:nvSpPr>
        <p:spPr>
          <a:xfrm>
            <a:off x="475488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3 label"/>
          <p:cNvSpPr txBox="1"/>
          <p:nvPr/>
        </p:nvSpPr>
        <p:spPr>
          <a:xfrm>
            <a:off x="47548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410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model adds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7581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early warning, before any reviews exist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predict: rating below 4.0</a:t>
            </a:r>
            <a:endParaRPr lang="en-US" sz="2800" dirty="0"/>
          </a:p>
        </p:txBody>
      </p:sp>
      <p:sp>
        <p:nvSpPr>
          <p:cNvPr id="3" name="Stat card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products are poorly rated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(340 of 1,350)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Target: poorly_rated = 1 if rating &lt; 4.0, else 0. Binary classification.</a:t>
            </a:r>
            <a:endParaRPr lang="en-US" sz="1200" dirty="0"/>
          </a:p>
        </p:txBody>
      </p:sp>
      <p:sp>
        <p:nvSpPr>
          <p:cNvPr id="7" name="Features card"/>
          <p:cNvSpPr/>
          <p:nvPr/>
        </p:nvSpPr>
        <p:spPr>
          <a:xfrm>
            <a:off x="3474720" y="1188720"/>
            <a:ext cx="2514600" cy="329184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Features: known before reviews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01168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Actual price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Discount (price or 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 (level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description</a:t>
            </a:r>
            <a:endParaRPr lang="en-US" sz="1400" dirty="0"/>
          </a:p>
        </p:txBody>
      </p:sp>
      <p:sp>
        <p:nvSpPr>
          <p:cNvPr id="10" name="Leakage card"/>
          <p:cNvSpPr/>
          <p:nvPr/>
        </p:nvSpPr>
        <p:spPr>
          <a:xfrm>
            <a:off x="6172200" y="1188720"/>
            <a:ext cx="2514600" cy="329184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Excluded: leakage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1168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rating_count (exists only after sales)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review_title, review_content (reveal the rating)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a one-day snapshot of Amazon India</a:t>
            </a:r>
            <a:endParaRPr lang="en-US" sz="2800" dirty="0"/>
          </a:p>
        </p:txBody>
      </p:sp>
      <p:sp>
        <p:nvSpPr>
          <p:cNvPr id="3" name="Stat rows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tat unique products"/>
          <p:cNvSpPr/>
          <p:nvPr/>
        </p:nvSpPr>
        <p:spPr>
          <a:xfrm>
            <a:off x="256032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1,351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unique products</a:t>
            </a:r>
            <a:endParaRPr lang="en-US" sz="1300" dirty="0"/>
          </a:p>
        </p:txBody>
      </p:sp>
      <p:sp>
        <p:nvSpPr>
          <p:cNvPr id="9" name="Stat columns"/>
          <p:cNvSpPr/>
          <p:nvPr/>
        </p:nvSpPr>
        <p:spPr>
          <a:xfrm>
            <a:off x="466344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columns</a:t>
            </a:r>
            <a:endParaRPr lang="en-US" sz="1300" dirty="0"/>
          </a:p>
        </p:txBody>
      </p:sp>
      <p:sp>
        <p:nvSpPr>
          <p:cNvPr id="12" name="Stat scraped in ~8 hours"/>
          <p:cNvSpPr/>
          <p:nvPr/>
        </p:nvSpPr>
        <p:spPr>
          <a:xfrm>
            <a:off x="676656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Jan 2023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scraped in ~8 hours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Grain: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row = one product as it appeared in an Amazon search result, with up to 8 reviews concatenated in a single cell.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Source: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"Amazon Sales Dataset" by Karkavelraja J on Kaggle (CC BY-NC-SA 4.0), scraped from amazon.in. Prices in rupees (₹); date from the qid timestamp in product_link.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products repeat, but rating never changes</a:t>
            </a:r>
            <a:endParaRPr lang="en-US" sz="2800" dirty="0"/>
          </a:p>
        </p:txBody>
      </p:sp>
      <p:graphicFrame>
        <p:nvGraphicFramePr>
          <p:cNvPr id="3" name="Duplicate differences chart" descr=""/>
          <p:cNvGraphicFramePr/>
          <p:nvPr/>
        </p:nvGraphicFramePr>
        <p:xfrm>
          <a:off x="365760" y="105156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uplicates callout"/>
          <p:cNvSpPr/>
          <p:nvPr/>
        </p:nvSpPr>
        <p:spPr>
          <a:xfrm>
            <a:off x="5760720" y="118872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extra rows (7.8%) removed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70 products ×2, 22 products ×3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926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product scraped from different searches (e.g. electronics vs computers). Rating, our target, is identical across copies, so we keep the first row.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2 of 5 C's checked so far</a:t>
            </a:r>
            <a:endParaRPr lang="en-US" sz="2800" dirty="0"/>
          </a:p>
        </p:txBody>
      </p:sp>
      <p:sp>
        <p:nvSpPr>
          <p:cNvPr id="3" name="Clean card"/>
          <p:cNvSpPr/>
          <p:nvPr/>
        </p:nvSpPr>
        <p:spPr>
          <a:xfrm>
            <a:off x="45720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lean circle"/>
          <p:cNvSpPr/>
          <p:nvPr/>
        </p:nvSpPr>
        <p:spPr>
          <a:xfrm>
            <a:off x="685800" y="126187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lean label"/>
          <p:cNvSpPr txBox="1"/>
          <p:nvPr/>
        </p:nvSpPr>
        <p:spPr>
          <a:xfrm>
            <a:off x="6858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Numbers stored as text: ₹ and commas in prices, % in discount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rating_count in Indian format (1,07,687) in 1,137 rows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rating is "|" → becomes a null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Fix: strip symbols, cast to float</a:t>
            </a:r>
            <a:endParaRPr lang="en-US" sz="1300" dirty="0"/>
          </a:p>
        </p:txBody>
      </p:sp>
      <p:sp>
        <p:nvSpPr>
          <p:cNvPr id="9" name="Consistent card"/>
          <p:cNvSpPr/>
          <p:nvPr/>
        </p:nvSpPr>
        <p:spPr>
          <a:xfrm>
            <a:off x="466344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nsistent circle"/>
          <p:cNvSpPr/>
          <p:nvPr/>
        </p:nvSpPr>
        <p:spPr>
          <a:xfrm>
            <a:off x="4892040" y="126187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onsistent label"/>
          <p:cNvSpPr txBox="1"/>
          <p:nvPr/>
        </p:nvSpPr>
        <p:spPr>
          <a:xfrm>
            <a:off x="489204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Consistent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Rating written as 4 (52) and 4.0 (129)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114 duplicate rows of the same product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Category depth varies from 2 to 7 levels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Fix: dedupe by product_id, use category level 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Next:</a:t>
            </a:r>
            <a:endParaRPr lang="en-US" sz="1400" dirty="0"/>
          </a:p>
        </p:txBody>
      </p:sp>
      <p:sp>
        <p:nvSpPr>
          <p:cNvPr id="16" name="Current pending chip"/>
          <p:cNvSpPr/>
          <p:nvPr/>
        </p:nvSpPr>
        <p:spPr>
          <a:xfrm>
            <a:off x="1234440" y="4023360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23444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Current</a:t>
            </a:r>
            <a:endParaRPr lang="en-US" sz="1300" dirty="0"/>
          </a:p>
        </p:txBody>
      </p:sp>
      <p:sp>
        <p:nvSpPr>
          <p:cNvPr id="18" name="Correct pending chip"/>
          <p:cNvSpPr/>
          <p:nvPr/>
        </p:nvSpPr>
        <p:spPr>
          <a:xfrm>
            <a:off x="3200400" y="4023360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20040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Correct</a:t>
            </a:r>
            <a:endParaRPr lang="en-US" sz="1300" dirty="0"/>
          </a:p>
        </p:txBody>
      </p:sp>
      <p:sp>
        <p:nvSpPr>
          <p:cNvPr id="20" name="Comprehensive pending chip"/>
          <p:cNvSpPr/>
          <p:nvPr/>
        </p:nvSpPr>
        <p:spPr>
          <a:xfrm>
            <a:off x="5166360" y="4023360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9AA5B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16636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Comprehensive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tings">
  <a:themeElements>
    <a:clrScheme name="Ratings">
      <a:dk1>
        <a:srgbClr val="1B2A41"/>
      </a:dk1>
      <a:lt1>
        <a:srgbClr val="FFFFFF"/>
      </a:lt1>
      <a:dk2>
        <a:srgbClr val="4A5568"/>
      </a:dk2>
      <a:lt2>
        <a:srgbClr val="F3F5F8"/>
      </a:lt2>
      <a:accent1>
        <a:srgbClr val="E8A33D"/>
      </a:accent1>
      <a:accent2>
        <a:srgbClr val="C2453B"/>
      </a:accent2>
      <a:accent3>
        <a:srgbClr val="2E7D6B"/>
      </a:accent3>
      <a:accent4>
        <a:srgbClr val="9AA5B4"/>
      </a:accent4>
      <a:accent5>
        <a:srgbClr val="D9DEE5"/>
      </a:accent5>
      <a:accent6>
        <a:srgbClr val="FBEFD9"/>
      </a:accent6>
      <a:hlink>
        <a:srgbClr val="2E7D6B"/>
      </a:hlink>
      <a:folHlink>
        <a:srgbClr val="4A5568"/>
      </a:folHlink>
    </a:clrScheme>
    <a:fontScheme name="Rating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India ratings - progress update</dc:title>
  <dc:subject>PptxGenJS Presentation</dc:subject>
  <dc:creator>PptxGenJS</dc:creator>
  <cp:lastModifiedBy>PptxGenJS</cp:lastModifiedBy>
  <cp:revision>1</cp:revision>
  <dcterms:created xsi:type="dcterms:W3CDTF">2026-10-29T22:28:58Z</dcterms:created>
  <dcterms:modified xsi:type="dcterms:W3CDTF">2026-10-29T22:28:58Z</dcterms:modified>
</cp:coreProperties>
</file>